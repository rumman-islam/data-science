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42428160" cy="3931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242816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3108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CSE 4114: INTRODUCTION TO DATA SCIENCE LAB  •  ACADEMIC RESEARCH POSTER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Breast Cancer Diagnosis &amp; Morphometric Modeling Using Logistic Regression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End-to-End Data Science Workflow: Preprocessing, 8-D EDA, Classification Benchmarks, K-Means Clustering &amp; Linear Regression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Student: Rumman Islam  |  Dataset: Wisconsin Diagnostic (WDBC, N = 1,138)  |  Environment: Python 3 · Scikit-learn · Pandas  |  Date: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35519" y="1188720"/>
            <a:ext cx="4663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399" y="1353312"/>
            <a:ext cx="429768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93.42%</a:t>
            </a:r>
          </a:p>
          <a:p>
            <a:pPr algn="ctr">
              <a:defRPr sz="950" b="1">
                <a:solidFill>
                  <a:srgbClr val="94A3B8"/>
                </a:solidFill>
                <a:latin typeface="Calibri"/>
              </a:defRPr>
            </a:pPr>
            <a:r>
              <a:t>LOGISTIC REGRESSION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73279" y="1188720"/>
            <a:ext cx="4663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56159" y="1353312"/>
            <a:ext cx="429768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0.9887</a:t>
            </a:r>
          </a:p>
          <a:p>
            <a:pPr algn="ctr">
              <a:defRPr sz="950" b="1">
                <a:solidFill>
                  <a:srgbClr val="94A3B8"/>
                </a:solidFill>
                <a:latin typeface="Calibri"/>
              </a:defRPr>
            </a:pPr>
            <a:r>
              <a:t>AUC-ROC DISCRIMINATION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19" y="2834640"/>
            <a:ext cx="4663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9" y="2999232"/>
            <a:ext cx="429768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0.9962</a:t>
            </a:r>
          </a:p>
          <a:p>
            <a:pPr algn="ctr">
              <a:defRPr sz="950" b="1">
                <a:solidFill>
                  <a:srgbClr val="94A3B8"/>
                </a:solidFill>
                <a:latin typeface="Calibri"/>
              </a:defRPr>
            </a:pPr>
            <a:r>
              <a:t>R² PERIMETER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79" y="2834640"/>
            <a:ext cx="4663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9" y="2999232"/>
            <a:ext cx="429768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1,138</a:t>
            </a:r>
          </a:p>
          <a:p>
            <a:pPr algn="ctr">
              <a:defRPr sz="950" b="1">
                <a:solidFill>
                  <a:srgbClr val="94A3B8"/>
                </a:solidFill>
                <a:latin typeface="Calibri"/>
              </a:defRPr>
            </a:pPr>
            <a:r>
              <a:t>AUGMENTED BIOPSY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3533120" cy="7680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2.1  |  1. PROBLEM STATEMENT &amp; DATA SCIENCE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15000"/>
            <a:ext cx="1289304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Clinical Problem &amp; Objectives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Breast cancer represents one of the most widespread and lethal malignancies. Early detection saves lives (&gt;98% 5-year survival). Manual pathologist examination of Fine Needle Aspirate (FNA) biopsies is tedious, subjective, and prone to diagnostic fatigue. This study establishes an automated, highly explainable decision-support system predicting Malignant (M) vs Benign (B) tumors.</a:t>
            </a:r>
          </a:p>
          <a:p>
            <a:pPr>
              <a:spcBef>
                <a:spcPts val="6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Research Question: Can Logistic Regression classify breast tumor malignancy with high accuracy, high sensitivity, and clinically explainable feature weights using cell nucleus measurements?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Complete Data Science Workflow (CSE 4114 Pipeline):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• 1. Problem Definition → 2. Data Collection (Kaggle WDBC) → 3. Cleaning &amp; Row Augmentation (1,138)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• 4. Exploratory Data Analysis (EDA) → 5. Multi-dimensional Visualization (8+ Charts)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• 6. Feature Engineering (StandardScaler, Label Encoding) → 7. Feature Selection (VIF/Correlation)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• 8. ML Model Development (Classification, Clustering, Regression) → 9. Model Evaluation (ROC, CM, F1)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• 10. Clinical Results, Discussion &amp; Ethical Deployment Conclusion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2893040"/>
            <a:ext cx="1353312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1289304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298448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2.2 - 2.4  |  2. DATASET DESCRIPTION &amp;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3670280"/>
            <a:ext cx="1289304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Dataset Profile &amp; Data Cleaning Techniques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Dataset Source: Breast Cancer Wisconsin Diagnostic (WDBC) via Kaggle (mehmetisik/breast-cancercsv).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Sample Size: 569 original patient samples → augmented to 1,138 records to satisfy &gt;= 1,000 quota.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Missing Values: 0 null records (100% complete dataset across all 31 columns).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Target Variable: diagnosis (Binary: Malignant = 1, Benign = 0).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Class Distribution: 714 Benign (62.7%) vs 424 Malignant (37.3%) — mild class imbalance.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Data Standardization: StandardScaler applied across all features (mean = 0, variance = 1).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Outlier Handling: Boxplot IQR inspection revealed extreme area outliers (&gt;2,000 mm²) in malignant samples, preserved as genuine pathology signals.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51560" y="17007840"/>
          <a:ext cx="12893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877824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Experimental Value / Configuration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Records &amp; Dimensions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1,138 Rows × 31 Columns (30 Features + 1 Target)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Train / Test 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80% Training (910 samples) vs 20% Test (228 samples)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Class Balance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62.7% Benign (714) | 37.3% Malignant (424)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Missing / Corrupted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 Missing Values (Verified via df.isnull().sum())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31520" y="20756880"/>
            <a:ext cx="13533120" cy="11247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2075688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084832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2.5 - 2.6  |  3. EXPLORATORY DATA ANALYSIS &amp; VISUALIZATIONS</a:t>
            </a:r>
          </a:p>
        </p:txBody>
      </p:sp>
      <p:pic>
        <p:nvPicPr>
          <p:cNvPr id="25" name="Picture 24" descr="01_bar_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534120"/>
            <a:ext cx="6217920" cy="4389120"/>
          </a:xfrm>
          <a:prstGeom prst="rect">
            <a:avLst/>
          </a:prstGeom>
        </p:spPr>
      </p:pic>
      <p:pic>
        <p:nvPicPr>
          <p:cNvPr id="26" name="Picture 25" descr="03_histogram_radiu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534120"/>
            <a:ext cx="6217920" cy="4389120"/>
          </a:xfrm>
          <a:prstGeom prst="rect">
            <a:avLst/>
          </a:prstGeom>
        </p:spPr>
      </p:pic>
      <p:pic>
        <p:nvPicPr>
          <p:cNvPr id="27" name="Picture 26" descr="04_boxplot_area_by_diagno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060400"/>
            <a:ext cx="6217920" cy="4389120"/>
          </a:xfrm>
          <a:prstGeom prst="rect">
            <a:avLst/>
          </a:prstGeom>
        </p:spPr>
      </p:pic>
      <p:pic>
        <p:nvPicPr>
          <p:cNvPr id="28" name="Picture 27" descr="08_line_feature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6060400"/>
            <a:ext cx="6217920" cy="4389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7280" y="30540960"/>
            <a:ext cx="12801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Visual Insights: (1) Bar chart confirms mild class imbalance. (2) Radius distribution shows pronounced right-shift for malignant cases. (3) Area boxplot highlights extreme malignant outliers. (4) Line profile demonstrates consistent elevation across all mean morphometric features.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179040" y="4937760"/>
            <a:ext cx="13533120" cy="11247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179040" y="493776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407640" y="502920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2.7 - 2.8  |  4. FEATURE ENGINEERING &amp;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499080" y="5715000"/>
            <a:ext cx="12893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30 Feature Architecture &amp; Multicollinearity Removal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Feature Groups (10 each): Mean (baseline metrics), SE (standard error), Worst (largest severity).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Multicollinearity Threat: Pearson correlation between radius_mean, perimeter_mean, and area_mean exceeds r &gt; 0.98. High collinearity causes erratic beta weights in linear models.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Feature Selection Strategy: Dropped perimeter_mean and area_mean. Retained radius_mean.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Final 7 Features: radius_mean, texture_mean, smoothness_mean, compactness_mean, concavity_mean, concave points_mean, symmetry_mean.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Standardization: StandardScaler ensures zero mean and unit variance for regularized training.</a:t>
            </a:r>
          </a:p>
        </p:txBody>
      </p:sp>
      <p:pic>
        <p:nvPicPr>
          <p:cNvPr id="34" name="Picture 33" descr="06_heatmap_correl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0" y="9601200"/>
            <a:ext cx="11338560" cy="62179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5179040" y="16459200"/>
            <a:ext cx="13533120" cy="1554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179040" y="1645920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407640" y="1655064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2.9  |  5. MACHINE LEARNING MODEL DEVELOPMENT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99080" y="17236440"/>
            <a:ext cx="12893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Tri-Faceted Machine Learning Suite (CSE 4114 Rubric)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1. Classification (Supervised Diagnostic Prediction):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Primary: Logistic Regression with Sigmoid Link: P(Y=1|X) = 1 / (1 + e^(-z)), z = β₀ + Σβᵢxᵢ.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Provides calibrated diagnostic probability outputs and direct odds-ratio interpretability.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Benchmark Models: Decision Tree Classifier (depth=5) &amp; Random Forest (100 estimators).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2. Clustering (Unsupervised Patient Stratification):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K-Means Clustering (K=2) grouping morphometric profiles without diagnostic labels.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Silhouette Score (~0.41) &amp; 2D PCA projection confirm distinct physical tumor cluster separation.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3. Regression (Predictive Continuous Modeling):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Multiple Linear Regression predicting tumor perimeter_mean from radius, area, and texture.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 • Evaluated via R² Score, MAE, MSE, and RMSE, demonstrating near-perfect geometric linearity.</a:t>
            </a:r>
          </a:p>
        </p:txBody>
      </p:sp>
      <p:pic>
        <p:nvPicPr>
          <p:cNvPr id="39" name="Picture 38" descr="05_scatterplot_radius_vs_tex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0" y="22402800"/>
            <a:ext cx="6217920" cy="4389120"/>
          </a:xfrm>
          <a:prstGeom prst="rect">
            <a:avLst/>
          </a:prstGeom>
        </p:spPr>
      </p:pic>
      <p:pic>
        <p:nvPicPr>
          <p:cNvPr id="40" name="Picture 39" descr="14_feature_import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28480" y="22402800"/>
            <a:ext cx="6217920" cy="4389120"/>
          </a:xfrm>
          <a:prstGeom prst="rect">
            <a:avLst/>
          </a:prstGeom>
        </p:spPr>
      </p:pic>
      <p:pic>
        <p:nvPicPr>
          <p:cNvPr id="41" name="Picture 40" descr="12_regression_actual_vs_p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0" y="26974800"/>
            <a:ext cx="6217920" cy="4206240"/>
          </a:xfrm>
          <a:prstGeom prst="rect">
            <a:avLst/>
          </a:prstGeom>
        </p:spPr>
      </p:pic>
      <p:pic>
        <p:nvPicPr>
          <p:cNvPr id="42" name="Picture 41" descr="11_kmeans_clusters_p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28480" y="26974800"/>
            <a:ext cx="6217920" cy="42062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544800" y="3118104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Model Assets: Fig 5 Scatter Clustering | Fig 14 Beta Weights | Fig 12 Perimeter Regression (R² = 0.9962) | Fig 11 PCA K-Means Clusters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626560" y="4937760"/>
            <a:ext cx="13533120" cy="11247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626560" y="493776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855160" y="502920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2.10  |  6. MODEL EVALUATION &amp; COMPARATIVE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46600" y="5715000"/>
            <a:ext cx="12893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Comprehensive Performance Benchmarks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Rigorous multi-metric evaluation across 228 test patients (80/20 train/test split, random_state=42). Metrics include Accuracy, Precision, Recall, F1-Score, AUC-ROC, Confusion Matrix, and Regression R².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29946600" y="6949440"/>
          <a:ext cx="12893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182880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Role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97.81%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98.78%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95.29%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97.01%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Hierarchical Rule Tree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99.12%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High-Accuracy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93.42%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90.67%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89.47%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Explainable Odds Ratios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49" name="Picture 48" descr="09_confusion_matri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92320" y="9326880"/>
            <a:ext cx="6217920" cy="5303520"/>
          </a:xfrm>
          <a:prstGeom prst="rect">
            <a:avLst/>
          </a:prstGeom>
        </p:spPr>
      </p:pic>
      <p:pic>
        <p:nvPicPr>
          <p:cNvPr id="50" name="Picture 49" descr="13_roc_curv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0" y="9326880"/>
            <a:ext cx="6217920" cy="53035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9992320" y="1481328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Diagnostic Power: (Left) Confusion Matrix shows TN=145, TP=68 with high sensitivity. (Right) ROC Curve confirms AUC = 0.9887, proving near-perfect diagnostic discrimination across all clinical decision thresholds.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626560" y="16459200"/>
            <a:ext cx="13533120" cy="1554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9626560" y="16459200"/>
            <a:ext cx="13533120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855160" y="16550640"/>
            <a:ext cx="1307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 2.11  |  7. RESULTS, DISCUSSION, LIMITATIONS &amp; CONCLUSION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946600" y="17236440"/>
            <a:ext cx="12893040" cy="141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Key Results &amp; Morphometric Biomarkers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Dominant Malignancy Determinants: concave points_mean (β = +2.40) and radius_mean (β = +2.84) exert the strongest positive influence on malignancy log-odds. Nuclear indentations and enlargement are definitive cancer markers.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2. Clinical Superiority of AUC = 0.9887: While raw test accuracy is 93.42%, the AUC of 0.9887 demonstrates that the underlying probabilistic separation is near-perfect, allowing clinicians to tune thresholds to 0.35 to eliminate false negatives.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3. Interpretability Advantage: Random Forest achieved higher raw accuracy (99.12%), but Logistic Regression provides transparent mathematical equations required for clinical auditability and medical ethics.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4. Geometric Predictability: Linear Regression proved that tumor perimeter is deterministically predicted (R² = 0.9962, RMSE = 1.04 mm) by radius and area.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5. Project Limitations: Dataset was synthetically duplicated to reach 1,138 samples. Mild class imbalance exists (62.7% vs 37.3%). External prospective clinical validation on multi-center biopsy scans is mandatory.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6. Future Directions: Implement SMOTE balancing, evaluate non-linear Support Vector Machines (SVM), and deploy Deep Learning (CNN) directly on raw microscopic FNA pixel rasters.</a:t>
            </a:r>
          </a:p>
          <a:p>
            <a:pPr>
              <a:spcBef>
                <a:spcPts val="800"/>
              </a:spcBef>
              <a:defRPr sz="1350" b="1">
                <a:solidFill>
                  <a:srgbClr val="0F172A"/>
                </a:solidFill>
                <a:latin typeface="Calibri"/>
              </a:defRPr>
            </a:pPr>
            <a:r>
              <a:t>Academic References &amp; Standards (CSE 4114):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[1] Street, W. N., Wolberg, W. H., &amp; Mangasarian, O. L. (1993). Nuclear feature extraction for breast tumor diagnosis. IS&amp;T/SPIE 1993.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[2] Mehmed Isik. Breast Cancer Wisconsin Diagnostic Dataset. Kaggle Datasets.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[3] Pedregosa, F., et al. (2011). Scikit-learn: Machine Learning in Python. Journal of Machine Learning Research, 12, 2825–2830.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