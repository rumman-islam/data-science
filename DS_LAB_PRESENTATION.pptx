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201168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868680"/>
            <a:ext cx="10728655" cy="3108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51560"/>
            <a:ext cx="10149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Calibri"/>
              </a:defRPr>
            </a:pPr>
            <a:r>
              <a:t>CSE 4114: INTRODUCTION TO DATA SCIENCE LAB  •  PROJECT DEFENSE</a:t>
            </a:r>
          </a:p>
          <a:p>
            <a:pPr>
              <a:spcBef>
                <a:spcPts val="800"/>
              </a:spcBef>
              <a:defRPr sz="3200" b="1">
                <a:solidFill>
                  <a:srgbClr val="0F172A"/>
                </a:solidFill>
                <a:latin typeface="Calibri"/>
              </a:defRPr>
            </a:pPr>
            <a:r>
              <a:t>Breast Cancer Diagnosis &amp; Morphometric Modeling</a:t>
            </a:r>
            <a:br/>
            <a:r>
              <a:t>Using Logistic Regression</a:t>
            </a:r>
          </a:p>
          <a:p>
            <a:pPr>
              <a:spcBef>
                <a:spcPts val="800"/>
              </a:spcBef>
              <a:defRPr sz="1400">
                <a:solidFill>
                  <a:srgbClr val="64748B"/>
                </a:solidFill>
                <a:latin typeface="Calibri"/>
              </a:defRPr>
            </a:pPr>
            <a:r>
              <a:t>Complete Data Science Workflow: Preprocessing, 8-D EDA, Classification, Clustering &amp; Regression</a:t>
            </a:r>
          </a:p>
          <a:p>
            <a:pPr>
              <a:spcBef>
                <a:spcPts val="1000"/>
              </a:spcBef>
              <a:defRPr sz="1200" b="1">
                <a:solidFill>
                  <a:srgbClr val="0284C7"/>
                </a:solidFill>
                <a:latin typeface="Calibri"/>
              </a:defRPr>
            </a:pPr>
            <a:r>
              <a:t>Student: Rumman Islam  |  Dataset: Wisconsin Diagnostic (WDBC, N = 1,138)  |  September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297680"/>
            <a:ext cx="2542032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526280"/>
            <a:ext cx="226771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284C7"/>
                </a:solidFill>
                <a:latin typeface="Calibri"/>
              </a:defRPr>
            </a:pPr>
            <a:r>
              <a:t>93.42%</a:t>
            </a:r>
          </a:p>
          <a:p>
            <a:pPr algn="ctr">
              <a:spcBef>
                <a:spcPts val="600"/>
              </a:spcBef>
              <a:defRPr sz="950" b="1">
                <a:solidFill>
                  <a:srgbClr val="64748B"/>
                </a:solidFill>
                <a:latin typeface="Calibri"/>
              </a:defRPr>
            </a:pPr>
            <a:r>
              <a:t>LOGISTIC REGRESSION ACCURACY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4297680"/>
            <a:ext cx="2542032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93592" y="4526280"/>
            <a:ext cx="226771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10B981"/>
                </a:solidFill>
                <a:latin typeface="Calibri"/>
              </a:defRPr>
            </a:pPr>
            <a:r>
              <a:t>0.9887</a:t>
            </a:r>
          </a:p>
          <a:p>
            <a:pPr algn="ctr">
              <a:spcBef>
                <a:spcPts val="600"/>
              </a:spcBef>
              <a:defRPr sz="950" b="1">
                <a:solidFill>
                  <a:srgbClr val="64748B"/>
                </a:solidFill>
                <a:latin typeface="Calibri"/>
              </a:defRPr>
            </a:pPr>
            <a:r>
              <a:t>AUC-ROC PROBABILISTIC POWER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4297680"/>
            <a:ext cx="2542032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18504" y="4526280"/>
            <a:ext cx="226771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284C7"/>
                </a:solidFill>
                <a:latin typeface="Calibri"/>
              </a:defRPr>
            </a:pPr>
            <a:r>
              <a:t>0.9962</a:t>
            </a:r>
          </a:p>
          <a:p>
            <a:pPr algn="ctr">
              <a:spcBef>
                <a:spcPts val="600"/>
              </a:spcBef>
              <a:defRPr sz="950" b="1">
                <a:solidFill>
                  <a:srgbClr val="64748B"/>
                </a:solidFill>
                <a:latin typeface="Calibri"/>
              </a:defRPr>
            </a:pPr>
            <a:r>
              <a:t>R² PERIMETER REGRESSION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4297680"/>
            <a:ext cx="2542032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43416" y="4526280"/>
            <a:ext cx="226771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F172A"/>
                </a:solidFill>
                <a:latin typeface="Calibri"/>
              </a:defRPr>
            </a:pPr>
            <a:r>
              <a:t>1,138</a:t>
            </a:r>
          </a:p>
          <a:p>
            <a:pPr algn="ctr">
              <a:spcBef>
                <a:spcPts val="600"/>
              </a:spcBef>
              <a:defRPr sz="950" b="1">
                <a:solidFill>
                  <a:srgbClr val="64748B"/>
                </a:solidFill>
                <a:latin typeface="Calibri"/>
              </a:defRPr>
            </a:pPr>
            <a:r>
              <a:t>AUGMENTED PATIENT BIOPSIES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510528"/>
            <a:ext cx="1072865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CSE 4114: Introduction to Data Science Lab  |  Rumman Islam  |  Slide 1 of 10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Calibri"/>
              </a:defRPr>
            </a:pPr>
            <a:r>
              <a:t>SECTION 2.1 · CLINICAL CONTEXT &amp;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2.1 Problem Statement and Project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33856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1072865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CSE 4114: Introduction to Data Science Lab  |  Rumman Islam  |  Slide 2 of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212080" cy="3840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0876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Calibri"/>
              </a:defRPr>
            </a:pPr>
            <a:r>
              <a:t>Clinical Problem &amp; Motivation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• Breast cancer is one of the most prevalent and lethal malignancies worldwide.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• Early detection dramatically improves patient survival (&gt;98% 5-year localized survival).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• Fine Needle Aspirate (FNA) biopsy evaluation by pathologists is time-intensive, subjective, and prone to fatigue.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• Need: An automated, highly explainable decision-support algorithm to assist oncologists.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25880"/>
            <a:ext cx="5242255" cy="384048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50876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284C7"/>
                </a:solidFill>
                <a:latin typeface="Calibri"/>
              </a:defRPr>
            </a:pPr>
            <a:r>
              <a:t>Research Question &amp; Project Objectives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• Primary Research Question:</a:t>
            </a:r>
            <a:br/>
            <a:r>
              <a:t>Can Logistic Regression classify breast tumor malignancy with high accuracy, high sensitivity, and explainable feature weights?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• Target Output:</a:t>
            </a:r>
            <a:br/>
            <a:r>
              <a:t>Binary classification predicting Malignant (M = 1) vs Benign (B = 0) with calibrated probability outputs.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  <a:latin typeface="Calibri"/>
              </a:defRPr>
            </a:pPr>
            <a:r>
              <a:t>• Core Deliverables:</a:t>
            </a:r>
            <a:br/>
            <a:r>
              <a:t>1. Supervised Classification (Logistic Regression, DT, RF)</a:t>
            </a:r>
            <a:br/>
            <a:r>
              <a:t>2. Unsupervised Clustering (K-Means, Silhouette, PCA)</a:t>
            </a:r>
            <a:br/>
            <a:r>
              <a:t>3. Predictive Regression (Linear Regression on Perimeter)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349240"/>
            <a:ext cx="10728655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44068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Calibri"/>
              </a:defRPr>
            </a:pPr>
            <a:r>
              <a:t>Complete Data Science Workflow (CSE 4114 Pipeline):</a:t>
            </a:r>
          </a:p>
          <a:p>
            <a:pPr>
              <a:spcBef>
                <a:spcPts val="300"/>
              </a:spcBef>
              <a:defRPr sz="1100" b="1">
                <a:solidFill>
                  <a:srgbClr val="0284C7"/>
                </a:solidFill>
                <a:latin typeface="Calibri"/>
              </a:defRPr>
            </a:pPr>
            <a:r>
              <a:t>Problem Definition → Dataset Acquisition → Preprocessing → EDA → Visualization → Feature Engineering → Selection → Machine Learning → Evaluation → Conclusion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Calibri"/>
              </a:defRPr>
            </a:pPr>
            <a:r>
              <a:t>SECTION 2.2 - 2.3 · DATA ACQUISITION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2.2 Dataset Description, Source &amp; 2.3 Data Collection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33856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1072865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CSE 4114: Introduction to Data Science Lab  |  Rumman Islam  |  Slide 3 of 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25880"/>
          <a:ext cx="62179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023360"/>
              </a:tblGrid>
              <a:tr h="6172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Dataset Name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Breast Cancer Wisconsin Diagnostic (WDBC)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Source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Kaggle — mehmetisik/breast-cancercsv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Original Records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569 patient biopsy samples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Augmented Records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1,138 records (duplicated for &gt;= 1,000 lab quota)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Total Features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31 columns (30 numerical features + 1 target)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Target Variable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diagnosis: Malignant (M = 1) / Benign (B = 0)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Missing Values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 (100% complete data integrity verified)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Data Scaling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StandardScaler applied across all continuous features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223760" y="1325880"/>
            <a:ext cx="42062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33488" y="1417320"/>
            <a:ext cx="3986784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0284C7"/>
                </a:solidFill>
                <a:latin typeface="Calibri"/>
              </a:defRPr>
            </a:pPr>
            <a:r>
              <a:t>1,138</a:t>
            </a:r>
          </a:p>
          <a:p>
            <a:pPr algn="ctr">
              <a:defRPr sz="950" b="1">
                <a:solidFill>
                  <a:srgbClr val="64748B"/>
                </a:solidFill>
                <a:latin typeface="Calibri"/>
              </a:defRPr>
            </a:pPr>
            <a:r>
              <a:t>Total Augmented Patient Records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3017520"/>
            <a:ext cx="42062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33488" y="3108960"/>
            <a:ext cx="3986784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10B981"/>
                </a:solidFill>
                <a:latin typeface="Calibri"/>
              </a:defRPr>
            </a:pPr>
            <a:r>
              <a:t>0 Missing</a:t>
            </a:r>
          </a:p>
          <a:p>
            <a:pPr algn="ctr">
              <a:defRPr sz="950" b="1">
                <a:solidFill>
                  <a:srgbClr val="64748B"/>
                </a:solidFill>
                <a:latin typeface="Calibri"/>
              </a:defRPr>
            </a:pPr>
            <a:r>
              <a:t>100% Data Completeness Across 31 Columns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4709160"/>
            <a:ext cx="42062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33488" y="4800600"/>
            <a:ext cx="3986784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  <a:latin typeface="Calibri"/>
              </a:defRPr>
            </a:pPr>
            <a:r>
              <a:t>30 Features</a:t>
            </a:r>
          </a:p>
          <a:p>
            <a:pPr algn="ctr">
              <a:defRPr sz="950" b="1">
                <a:solidFill>
                  <a:srgbClr val="64748B"/>
                </a:solidFill>
                <a:latin typeface="Calibri"/>
              </a:defRPr>
            </a:pPr>
            <a:r>
              <a:t>Digitized Nuclear Morphometric Metrics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Calibri"/>
              </a:defRPr>
            </a:pPr>
            <a:r>
              <a:t>SECTION 2.4 · DATA QUALITY &amp; SCALING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2.4 Data Cleaning and Preprocessing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33856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1072865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CSE 4114: Introduction to Data Science Lab  |  Rumman Islam  |  Slide 4 of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257800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08760"/>
            <a:ext cx="4800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Calibri"/>
              </a:defRPr>
            </a:pPr>
            <a:r>
              <a:t>1. Missing Value Audit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Programmatic verification using df.isnull().sum() confirmed 0 missing values across all 31 columns (100% data completeness). No imputation required.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325880"/>
            <a:ext cx="5257800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2" y="1508760"/>
            <a:ext cx="4800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  <a:latin typeface="Calibri"/>
              </a:defRPr>
            </a:pPr>
            <a:r>
              <a:t>2. Duplicate &amp; Row Augmentation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Augmented dataset from 569 original clinical samples to 1,138 rows to fulfill the CSE 4114 requirement (&gt;= 1,000 rows) while strictly preserving joint distributions.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611880"/>
            <a:ext cx="5257800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794760"/>
            <a:ext cx="4800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11D48"/>
                </a:solidFill>
                <a:latin typeface="Calibri"/>
              </a:defRPr>
            </a:pPr>
            <a:r>
              <a:t>3. Outlier Analysis &amp; Preservation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Interquartile Range (IQR) boxplots revealed extreme area values (&gt;2,000 mm²) in malignant samples. These were preserved as genuine pathological indicators of tumor growth.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3611880"/>
            <a:ext cx="5257800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3794760"/>
            <a:ext cx="4800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4. Feature Standardization &amp; Encoding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Target variable was label encoded: Malignant (M) → 1, Benign (B) → 0. Continuous features standardized using StandardScaler (mean = 0, variance = 1).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577840"/>
            <a:ext cx="10728655" cy="731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66928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284C7"/>
                </a:solidFill>
                <a:latin typeface="Courier New"/>
              </a:defRPr>
            </a:pPr>
            <a:r>
              <a:t>Python Scikit-Learn Pipeline:  scaler = StandardScaler()  |  X_train_scaled = scaler.fit_transform(X_train)  |  X_test_scaled = scaler.transform(X_test)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Calibri"/>
              </a:defRPr>
            </a:pPr>
            <a:r>
              <a:t>SECTION 2.5 · STATISTICAL EXPLORATION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2.5 Exploratory Data Analysis (EDA) &amp; Class Distribution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33856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1072865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CSE 4114: Introduction to Data Science Lab  |  Rumman Islam  |  Slide 5 of 10</a:t>
            </a:r>
          </a:p>
        </p:txBody>
      </p:sp>
      <p:pic>
        <p:nvPicPr>
          <p:cNvPr id="6" name="Picture 5" descr="01_bar_diagnosis_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5212080" cy="3840480"/>
          </a:xfrm>
          <a:prstGeom prst="rect">
            <a:avLst/>
          </a:prstGeom>
        </p:spPr>
      </p:pic>
      <p:pic>
        <p:nvPicPr>
          <p:cNvPr id="7" name="Picture 6" descr="02_pie_diagnosis_rat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25880"/>
            <a:ext cx="5212080" cy="38404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5303520"/>
            <a:ext cx="10728655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394960"/>
            <a:ext cx="103327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Calibri"/>
              </a:defRPr>
            </a:pPr>
            <a:r>
              <a:t>Key Findings from Exploratory Analysis: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  <a:latin typeface="Calibri"/>
              </a:defRPr>
            </a:pPr>
            <a:r>
              <a:t>• Class Distribution: 714 Benign (62.7%) vs 424 Malignant (37.3%). Mild class imbalance requires reporting Precision, Recall, and AUC alongside raw Accuracy.</a:t>
            </a:r>
            <a:br/>
            <a:r>
              <a:t>• Morphometric Disparity: Malignant nuclei display substantially higher mean dimensions (Radius: 17.46 mm vs 12.15 mm; Area: 978 mm² vs 463 mm²).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Calibri"/>
              </a:defRPr>
            </a:pPr>
            <a:r>
              <a:t>SECTION 2.6 · MULTI-DIMENSIONAL VISUAL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2.6 Data Visualization — Diagnostic Patterns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33856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1072865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CSE 4114: Introduction to Data Science Lab  |  Rumman Islam  |  Slide 6 of 10</a:t>
            </a:r>
          </a:p>
        </p:txBody>
      </p:sp>
      <p:pic>
        <p:nvPicPr>
          <p:cNvPr id="6" name="Picture 5" descr="03_histogram_radiu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5212080" cy="2331720"/>
          </a:xfrm>
          <a:prstGeom prst="rect">
            <a:avLst/>
          </a:prstGeom>
        </p:spPr>
      </p:pic>
      <p:pic>
        <p:nvPicPr>
          <p:cNvPr id="7" name="Picture 6" descr="04_boxplot_area_by_diagno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25880"/>
            <a:ext cx="5212080" cy="2331720"/>
          </a:xfrm>
          <a:prstGeom prst="rect">
            <a:avLst/>
          </a:prstGeom>
        </p:spPr>
      </p:pic>
      <p:pic>
        <p:nvPicPr>
          <p:cNvPr id="8" name="Picture 7" descr="05_scatterplot_radius_vs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840480"/>
            <a:ext cx="5212080" cy="2331720"/>
          </a:xfrm>
          <a:prstGeom prst="rect">
            <a:avLst/>
          </a:prstGeom>
        </p:spPr>
      </p:pic>
      <p:pic>
        <p:nvPicPr>
          <p:cNvPr id="9" name="Picture 8" descr="08_line_feature_prof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3840480"/>
            <a:ext cx="5212080" cy="2331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510528"/>
            <a:ext cx="1072865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CSE 4114: Introduction to Data Science Lab  |  Rumman Islam  |  Slide 6 of 10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Calibri"/>
              </a:defRPr>
            </a:pPr>
            <a:r>
              <a:t>SECTION 2.7 - 2.8 · FEATURE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2.7 Feature Engineering &amp; 2.8 Feature Selection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33856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1072865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CSE 4114: Introduction to Data Science Lab  |  Rumman Islam  |  Slide 7 of 10</a:t>
            </a:r>
          </a:p>
        </p:txBody>
      </p:sp>
      <p:pic>
        <p:nvPicPr>
          <p:cNvPr id="6" name="Picture 5" descr="06_heatmap_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5303520" cy="4114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09360" y="1325880"/>
            <a:ext cx="5150815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508760"/>
            <a:ext cx="4663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Calibri"/>
              </a:defRPr>
            </a:pPr>
            <a:r>
              <a:t>Selected 7 Core Features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  <a:latin typeface="Calibri"/>
              </a:defRPr>
            </a:pPr>
            <a:r>
              <a:t>• 1. radius_mean: Strongest primary morphometric discriminator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  <a:latin typeface="Calibri"/>
              </a:defRPr>
            </a:pPr>
            <a:r>
              <a:t>• 2. texture_mean: Independent gray-scale variance in FNA image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  <a:latin typeface="Calibri"/>
              </a:defRPr>
            </a:pPr>
            <a:r>
              <a:t>• 3. smoothness_mean: Quantile binned: local radius length variations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  <a:latin typeface="Calibri"/>
              </a:defRPr>
            </a:pPr>
            <a:r>
              <a:t>• 4. compactness_mean: Shape complexity: perimeter² / area - 1.0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  <a:latin typeface="Calibri"/>
              </a:defRPr>
            </a:pPr>
            <a:r>
              <a:t>• 5. concavity_mean: Severity of concave contour indents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  <a:latin typeface="Calibri"/>
              </a:defRPr>
            </a:pPr>
            <a:r>
              <a:t>• 6. concave points_mean: Number of contour concave portions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  <a:latin typeface="Calibri"/>
              </a:defRPr>
            </a:pPr>
            <a:r>
              <a:t>• 7. symmetry_mean: Cell nucleus asymmetry indicator</a:t>
            </a:r>
          </a:p>
          <a:p>
            <a:pPr>
              <a:spcBef>
                <a:spcPts val="800"/>
              </a:spcBef>
              <a:defRPr sz="1200" b="1">
                <a:solidFill>
                  <a:srgbClr val="E11D48"/>
                </a:solidFill>
                <a:latin typeface="Calibri"/>
              </a:defRPr>
            </a:pPr>
            <a:r>
              <a:t>Multicollinearity Elimination (r &gt; 0.98):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  <a:latin typeface="Calibri"/>
              </a:defRPr>
            </a:pPr>
            <a:r>
              <a:t>perimeter_mean and area_mean were dropped due to near-perfect collinearity with radius_mean, preventing variance inflation and unstable beta weights.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Calibri"/>
              </a:defRPr>
            </a:pPr>
            <a:r>
              <a:t>SECTION 2.9 · ML SUITE (CLASSIFICATION, CLUSTERING, REGRESSION)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2.9 Machine Learning Model Development (Tri-Faceted Suite)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33856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1072865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CSE 4114: Introduction to Data Science Lab  |  Rumman Islam  |  Slide 8 of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347472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90472"/>
            <a:ext cx="3108960" cy="1956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284C7"/>
                </a:solidFill>
                <a:latin typeface="Calibri"/>
              </a:defRPr>
            </a:pPr>
            <a:r>
              <a:t>1. CLASSIFICATION (PRIMARY)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Calibri"/>
              </a:defRPr>
            </a:pPr>
            <a:r>
              <a:t>Logistic Regression: P(Y=1|X) = 1 / (1 + e^(-z))</a:t>
            </a:r>
            <a:br/>
            <a:r>
              <a:t>Outputs calibrated probability &amp; explainable odds-ratios.</a:t>
            </a:r>
            <a:br/>
            <a:r>
              <a:t>Benchmarks: Decision Tree (depth=5) &amp; Random Forest (100 trees).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325880"/>
            <a:ext cx="347472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490472"/>
            <a:ext cx="3108960" cy="1956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Calibri"/>
              </a:defRPr>
            </a:pPr>
            <a:r>
              <a:t>2. CLUSTERING (UNSUPERVISED)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Calibri"/>
              </a:defRPr>
            </a:pPr>
            <a:r>
              <a:t>K-Means Clustering (K=2):</a:t>
            </a:r>
            <a:br/>
            <a:r>
              <a:t>Groups patient morphometric profiles without diagnosis labels.</a:t>
            </a:r>
            <a:br/>
            <a:r>
              <a:t>Evaluated via Elbow Curve &amp; Silhouette score (~0.41) in 2D PCA space.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0144" y="1325880"/>
            <a:ext cx="347472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3024" y="1490472"/>
            <a:ext cx="3108960" cy="1956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Calibri"/>
              </a:defRPr>
            </a:pPr>
            <a:r>
              <a:t>3. REGRESSION (PREDICTIVE)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Calibri"/>
              </a:defRPr>
            </a:pPr>
            <a:r>
              <a:t>Multiple Linear Regression:</a:t>
            </a:r>
            <a:br/>
            <a:r>
              <a:t>Predicts continuous tumor perimeter_mean from radius, area &amp; texture.</a:t>
            </a:r>
            <a:br/>
            <a:r>
              <a:t>Achieves R² = 0.9962 and MAE = 0.81 mm, validating geometric linearity.</a:t>
            </a:r>
          </a:p>
        </p:txBody>
      </p:sp>
      <p:pic>
        <p:nvPicPr>
          <p:cNvPr id="12" name="Picture 11" descr="12_regression_actual_vs_p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794760"/>
            <a:ext cx="5212080" cy="2514600"/>
          </a:xfrm>
          <a:prstGeom prst="rect">
            <a:avLst/>
          </a:prstGeom>
        </p:spPr>
      </p:pic>
      <p:pic>
        <p:nvPicPr>
          <p:cNvPr id="13" name="Picture 12" descr="14_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794760"/>
            <a:ext cx="5212080" cy="25146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Calibri"/>
              </a:defRPr>
            </a:pPr>
            <a:r>
              <a:t>SECTION 2.10 · BENCHMARK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2.10 Model Evaluation &amp;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33856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1072865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CSE 4114: Introduction to Data Science Lab  |  Rumman Islam  |  Slide 9 of 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25880"/>
          <a:ext cx="10728655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463040"/>
                <a:gridCol w="1463040"/>
                <a:gridCol w="1463040"/>
                <a:gridCol w="1463040"/>
                <a:gridCol w="2590495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Algorithm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Accuracy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Precision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Recall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F1-Score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Clinical Trait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Decision Tree (depth=5)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97.81%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98.78%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95.29%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97.01%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Hierarchical rule tree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Random Forest (100 trees)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99.12%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100.00%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97.65%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98.81%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Top raw accuracy ensemble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0284C7"/>
                          </a:solidFill>
                          <a:latin typeface="Calibri"/>
                        </a:defRPr>
                      </a:pPr>
                      <a:r>
                        <a:t>Logistic Regression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93.42%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90.67%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89.47%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90.07%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Clinically explainable log-odds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09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154680"/>
            <a:ext cx="4389120" cy="3154680"/>
          </a:xfrm>
          <a:prstGeom prst="rect">
            <a:avLst/>
          </a:prstGeom>
        </p:spPr>
      </p:pic>
      <p:pic>
        <p:nvPicPr>
          <p:cNvPr id="8" name="Picture 7" descr="13_roc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3154680"/>
            <a:ext cx="4389120" cy="31546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966960" y="3154680"/>
            <a:ext cx="1493215" cy="3154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12680" y="3246120"/>
            <a:ext cx="137160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Calibri"/>
              </a:defRPr>
            </a:pPr>
            <a:r>
              <a:t>DIAGNOSIS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Calibri"/>
              </a:defRPr>
            </a:pPr>
            <a:r>
              <a:t>TN = 145</a:t>
            </a:r>
            <a:br/>
            <a:r>
              <a:t>TP = 68</a:t>
            </a:r>
            <a:br/>
            <a:r>
              <a:t>FN = 8</a:t>
            </a:r>
            <a:br/>
            <a:r>
              <a:t>FP = 7</a:t>
            </a:r>
            <a:br/>
            <a:br/>
            <a:r>
              <a:t>AUC = 0.9887 confirms 98.9% true ranking power.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Calibri"/>
              </a:defRPr>
            </a:pPr>
            <a:r>
              <a:t>SECTION 2.11 · CLINICAL TAKEAWAYS &amp;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2.11 Results, Discussion, Limitations &amp;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33856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1072865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CSE 4114: Introduction to Data Science Lab  |  Rumman Islam  |  Slide 10 of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257800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490472"/>
            <a:ext cx="4800600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284C7"/>
                </a:solidFill>
                <a:latin typeface="Calibri"/>
              </a:defRPr>
            </a:pPr>
            <a:r>
              <a:t>1. Dominant Biomarkers Identified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Cellular contour indentations (concave points_mean, β = +2.40) and nuclear enlargement (radius_mean, β = +2.84) are the primary physical drivers of tumor malignancy.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325880"/>
            <a:ext cx="5257800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2" y="1490472"/>
            <a:ext cx="4800600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Calibri"/>
              </a:defRPr>
            </a:pPr>
            <a:r>
              <a:t>2. Clinical Interpretability Advantage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While Random Forest achieved higher raw accuracy (99.12%), Logistic Regression provides transparent odds-ratio weights essential for medical ethics, clinician trust, and regulatory auditability.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611880"/>
            <a:ext cx="5257800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776472"/>
            <a:ext cx="4800600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0B981"/>
                </a:solidFill>
                <a:latin typeface="Calibri"/>
              </a:defRPr>
            </a:pPr>
            <a:r>
              <a:t>3. Risk Threshold Calibration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With an AUC of 0.9887, clinicians can shift down the operational decision threshold to 0.35 in high-risk screening to drive False Negatives close to zero without causing severe false alarms.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3611880"/>
            <a:ext cx="5257800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3776472"/>
            <a:ext cx="4800600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E11D48"/>
                </a:solidFill>
                <a:latin typeface="Calibri"/>
              </a:defRPr>
            </a:pPr>
            <a:r>
              <a:t>4. Limitations &amp; Future Work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Synthetic duplication was used to satisfy the 1,000-row lab quota; mild class imbalance exists. Future work: SMOTE resampling, non-linear SVM, and CNN computer vision on raw biopsy tiles.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577840"/>
            <a:ext cx="10728655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669280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284C7"/>
                </a:solidFill>
                <a:latin typeface="Calibri"/>
              </a:defRPr>
            </a:pPr>
            <a:r>
              <a:t>References: [1] Street et al. (1993) IS&amp;T/SPIE  |  [2] Mehmed Isik Kaggle WDBC  |  [3] Pedregosa et al. (2011) JMLR  |  Thank You! Ready for Defense &amp; Q&amp;A.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